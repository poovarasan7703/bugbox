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sldIdLst>
    <p:sldId id="256" r:id="rId3"/>
    <p:sldId id="257" r:id="rId4"/>
    <p:sldId id="260" r:id="rId5"/>
    <p:sldId id="258" r:id="rId6"/>
    <p:sldId id="268" r:id="rId7"/>
    <p:sldId id="261" r:id="rId8"/>
    <p:sldId id="263" r:id="rId9"/>
    <p:sldId id="266" r:id="rId10"/>
    <p:sldId id="267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3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0" y="0"/>
            <a:ext cx="4548240" cy="514332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2627280"/>
            <a:ext cx="3624120" cy="19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48600" y="0"/>
            <a:ext cx="4595040" cy="38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9;p11"/>
          <p:cNvSpPr/>
          <p:nvPr/>
        </p:nvSpPr>
        <p:spPr>
          <a:xfrm>
            <a:off x="3933360" y="0"/>
            <a:ext cx="5210280" cy="514332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0920" y="3256560"/>
            <a:ext cx="3769920" cy="96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33000" cy="441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6512040" y="723600"/>
            <a:ext cx="2669400" cy="441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13520" y="1290240"/>
            <a:ext cx="471600" cy="47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13520" y="1687680"/>
            <a:ext cx="261036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713520" y="535320"/>
            <a:ext cx="579816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713520" y="2626560"/>
            <a:ext cx="471600" cy="47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713520" y="3024000"/>
            <a:ext cx="261036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3416040" y="1290240"/>
            <a:ext cx="471600" cy="47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3416040" y="1687680"/>
            <a:ext cx="261036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3416040" y="2626560"/>
            <a:ext cx="471600" cy="47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0"/>
          <p:cNvSpPr>
            <a:spLocks noGrp="1"/>
          </p:cNvSpPr>
          <p:nvPr>
            <p:ph type="title"/>
          </p:nvPr>
        </p:nvSpPr>
        <p:spPr>
          <a:xfrm>
            <a:off x="3416040" y="3024000"/>
            <a:ext cx="261036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6" name="Google Shape;69;p13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1295640" y="1575360"/>
            <a:ext cx="301680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1295640" y="3185280"/>
            <a:ext cx="301680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title"/>
          </p:nvPr>
        </p:nvSpPr>
        <p:spPr>
          <a:xfrm>
            <a:off x="4959720" y="1575360"/>
            <a:ext cx="301680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title"/>
          </p:nvPr>
        </p:nvSpPr>
        <p:spPr>
          <a:xfrm>
            <a:off x="4959720" y="3185280"/>
            <a:ext cx="301680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" name="Google Shape;80;p14"/>
          <p:cNvCxnSpPr/>
          <p:nvPr/>
        </p:nvCxnSpPr>
        <p:spPr>
          <a:xfrm>
            <a:off x="7474320" y="464400"/>
            <a:ext cx="81612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1295640" y="157140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1295640" y="265140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1295640" y="373104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title"/>
          </p:nvPr>
        </p:nvSpPr>
        <p:spPr>
          <a:xfrm>
            <a:off x="5317200" y="157140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6"/>
          <p:cNvSpPr>
            <a:spLocks noGrp="1"/>
          </p:cNvSpPr>
          <p:nvPr>
            <p:ph type="title"/>
          </p:nvPr>
        </p:nvSpPr>
        <p:spPr>
          <a:xfrm>
            <a:off x="5317200" y="265140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7"/>
          <p:cNvSpPr>
            <a:spLocks noGrp="1"/>
          </p:cNvSpPr>
          <p:nvPr>
            <p:ph type="title"/>
          </p:nvPr>
        </p:nvSpPr>
        <p:spPr>
          <a:xfrm>
            <a:off x="5317200" y="3731040"/>
            <a:ext cx="311364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0" name="Google Shape;95;p15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520" y="54360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5566320" y="1361880"/>
            <a:ext cx="263592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5566320" y="2552760"/>
            <a:ext cx="263592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5566320" y="3743640"/>
            <a:ext cx="263592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0" y="1457640"/>
            <a:ext cx="4365000" cy="368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36" name="Google Shape;105;p16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13520" y="539640"/>
            <a:ext cx="7717320" cy="68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284440" y="1457640"/>
            <a:ext cx="3859200" cy="368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39" name="Google Shape;110;p17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13520" y="539640"/>
            <a:ext cx="7717320" cy="68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1" name="Google Shape;114;p18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6;p19"/>
          <p:cNvSpPr/>
          <p:nvPr/>
        </p:nvSpPr>
        <p:spPr>
          <a:xfrm>
            <a:off x="4586040" y="0"/>
            <a:ext cx="4557600" cy="518544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61240" y="2264400"/>
            <a:ext cx="336960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585680" cy="38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6" name="Google Shape;120;p19"/>
          <p:cNvSpPr/>
          <p:nvPr/>
        </p:nvSpPr>
        <p:spPr>
          <a:xfrm>
            <a:off x="713520" y="4030560"/>
            <a:ext cx="292896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, including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4;p3"/>
          <p:cNvSpPr/>
          <p:nvPr/>
        </p:nvSpPr>
        <p:spPr>
          <a:xfrm>
            <a:off x="0" y="0"/>
            <a:ext cx="4365000" cy="514332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13520" y="3422160"/>
            <a:ext cx="3398400" cy="118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713520" y="887760"/>
            <a:ext cx="1463760" cy="651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lt1"/>
                </a:solidFill>
                <a:effectLst/>
                <a:uFillTx/>
                <a:latin typeface="Funnel Display"/>
                <a:ea typeface="Funnel Display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374000" y="-15840"/>
            <a:ext cx="4770000" cy="363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713160" y="1063800"/>
            <a:ext cx="7717320" cy="33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3" name="Google Shape;22;p4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1288800" y="1358280"/>
            <a:ext cx="263592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title"/>
          </p:nvPr>
        </p:nvSpPr>
        <p:spPr>
          <a:xfrm>
            <a:off x="5220360" y="1358280"/>
            <a:ext cx="2635920" cy="4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7" name="Google Shape;29;p5"/>
          <p:cNvCxnSpPr/>
          <p:nvPr/>
        </p:nvCxnSpPr>
        <p:spPr>
          <a:xfrm>
            <a:off x="7474320" y="464400"/>
            <a:ext cx="81612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9" name="Google Shape;32;p6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09000" y="539640"/>
            <a:ext cx="3670920" cy="68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37;p8"/>
          <p:cNvSpPr/>
          <p:nvPr/>
        </p:nvSpPr>
        <p:spPr>
          <a:xfrm>
            <a:off x="0" y="0"/>
            <a:ext cx="5175000" cy="514332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62480" y="2727000"/>
            <a:ext cx="3858840" cy="188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75360" y="0"/>
            <a:ext cx="3968280" cy="441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466600" y="535320"/>
            <a:ext cx="2964240" cy="5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0" y="723600"/>
            <a:ext cx="4852440" cy="441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6" name="Google Shape;44;p9"/>
          <p:cNvCxnSpPr/>
          <p:nvPr/>
        </p:nvCxnSpPr>
        <p:spPr>
          <a:xfrm>
            <a:off x="7474320" y="464400"/>
            <a:ext cx="81612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-7200" y="0"/>
            <a:ext cx="9199080" cy="517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713520" y="3789000"/>
            <a:ext cx="2999160" cy="819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28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3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38;p26"/>
          <p:cNvPicPr/>
          <p:nvPr/>
        </p:nvPicPr>
        <p:blipFill>
          <a:blip r:embed="rId2"/>
          <a:srcRect t="28398" b="11654"/>
          <a:stretch/>
        </p:blipFill>
        <p:spPr>
          <a:xfrm>
            <a:off x="0" y="-9729"/>
            <a:ext cx="4595040" cy="5143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828657" y="242640"/>
            <a:ext cx="3041020" cy="8365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trike="noStrike" dirty="0" err="1">
                <a:solidFill>
                  <a:srgbClr val="040710"/>
                </a:solidFill>
                <a:effectLst/>
                <a:uFillTx/>
                <a:latin typeface="Funnel Display"/>
                <a:ea typeface="Funnel Display"/>
              </a:rPr>
              <a:t>BugBox</a:t>
            </a:r>
            <a:r>
              <a:rPr lang="en-US" sz="3800" b="0" u="none" strike="noStrike" dirty="0">
                <a:solidFill>
                  <a:srgbClr val="040710"/>
                </a:solidFill>
                <a:effectLst/>
                <a:uFillTx/>
                <a:latin typeface="Funnel Display"/>
                <a:ea typeface="Funnel Display"/>
              </a:rPr>
              <a:t> Tool</a:t>
            </a:r>
            <a:endParaRPr lang="fr-FR" sz="3800" b="0" u="none" strike="noStrike" dirty="0">
              <a:solidFill>
                <a:srgbClr val="04071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5065108" y="3154082"/>
            <a:ext cx="3488492" cy="129377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 fontScale="25000" lnSpcReduction="2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Real-Time Bug Reproduction Logger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5600" dirty="0">
              <a:solidFill>
                <a:schemeClr val="tx1">
                  <a:lumMod val="50000"/>
                </a:schemeClr>
              </a:solidFill>
              <a:latin typeface="Syne"/>
              <a:ea typeface="Syne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56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Syne"/>
              <a:ea typeface="Syne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5600" dirty="0">
              <a:solidFill>
                <a:schemeClr val="tx1">
                  <a:lumMod val="50000"/>
                </a:schemeClr>
              </a:solidFill>
              <a:latin typeface="Syne"/>
              <a:ea typeface="Syne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56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Syne"/>
              <a:ea typeface="Syne"/>
            </a:endParaRP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>		</a:t>
            </a:r>
            <a:r>
              <a:rPr lang="en-US" sz="6400" b="1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>Team Members:</a:t>
            </a:r>
            <a: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/>
            </a:r>
            <a:b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</a:br>
            <a: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>		     1.Poovarasan K</a:t>
            </a: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		     2.Siddharth AJ</a:t>
            </a: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>                       3.Sivamuthu E</a:t>
            </a: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                       4.Udhayasankar R</a:t>
            </a: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5600" dirty="0" smtClean="0">
                <a:solidFill>
                  <a:schemeClr val="tx1">
                    <a:lumMod val="50000"/>
                  </a:schemeClr>
                </a:solidFill>
                <a:latin typeface="Syne"/>
                <a:ea typeface="Syne"/>
              </a:rPr>
              <a:t>	</a:t>
            </a:r>
            <a: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/>
            </a:r>
            <a:b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</a:br>
            <a:r>
              <a:rPr lang="en-US" sz="56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		</a:t>
            </a:r>
            <a:endParaRPr lang="en-US" sz="1800" dirty="0">
              <a:solidFill>
                <a:schemeClr val="tx1">
                  <a:lumMod val="50000"/>
                </a:schemeClr>
              </a:solidFill>
              <a:latin typeface="Syne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141;p26"/>
          <p:cNvSpPr/>
          <p:nvPr/>
        </p:nvSpPr>
        <p:spPr>
          <a:xfrm>
            <a:off x="123840" y="85680"/>
            <a:ext cx="421920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56960" rIns="870823080" bIns="1569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148;p26"/>
          <p:cNvSpPr/>
          <p:nvPr/>
        </p:nvSpPr>
        <p:spPr>
          <a:xfrm>
            <a:off x="8553600" y="4552920"/>
            <a:ext cx="39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5120" rIns="870823080" bIns="19512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467320" y="533520"/>
            <a:ext cx="2266169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unnel Display"/>
                <a:ea typeface="Funnel Display"/>
              </a:rPr>
              <a:t>Introduction</a:t>
            </a:r>
            <a:endParaRPr lang="fr-FR" sz="30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181;p29"/>
          <p:cNvPicPr/>
          <p:nvPr/>
        </p:nvPicPr>
        <p:blipFill>
          <a:blip r:embed="rId2"/>
          <a:srcRect t="23159" b="16129"/>
          <a:stretch/>
        </p:blipFill>
        <p:spPr>
          <a:xfrm flipH="1">
            <a:off x="0" y="0"/>
            <a:ext cx="4852440" cy="51627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5467320" y="1449421"/>
            <a:ext cx="2962080" cy="31031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BugBox</a:t>
            </a:r>
            <a:r>
              <a:rPr lang="en-US" sz="13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 is a developer tool designed to capture screen activity, logs, and user actions when a bug is reported. It enables developers to reproduce bugs </a:t>
            </a:r>
            <a:r>
              <a:rPr lang="en-US" sz="130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exactly as they occurred</a:t>
            </a:r>
            <a:r>
              <a:rPr lang="en-US" sz="13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, facilitating faster and more accurate debugging. This tool enhances team efficiency by reducing guesswork in bug replication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.</a:t>
            </a:r>
            <a:endParaRPr lang="en-US" sz="12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7714800" cy="6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dirty="0" smtClean="0">
                <a:solidFill>
                  <a:schemeClr val="tx1">
                    <a:lumMod val="50000"/>
                  </a:schemeClr>
                </a:solidFill>
                <a:latin typeface="Funnel Display"/>
              </a:rPr>
              <a:t>Problem Statement</a:t>
            </a:r>
            <a:endParaRPr lang="fr-FR" sz="30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/>
          </p:nvPr>
        </p:nvSpPr>
        <p:spPr bwMode="auto">
          <a:xfrm>
            <a:off x="1121541" y="1492977"/>
            <a:ext cx="77889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Developers spend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more time understanding the problem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Syne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Communication between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testers and developers becomes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>
                    <a:lumMod val="50000"/>
                  </a:schemeClr>
                </a:solidFill>
                <a:latin typeface="Syne"/>
              </a:rPr>
              <a:t> </a:t>
            </a:r>
            <a:r>
              <a:rPr lang="en-US" altLang="en-US" sz="1800" b="1" dirty="0" smtClean="0">
                <a:solidFill>
                  <a:schemeClr val="tx1">
                    <a:lumMod val="50000"/>
                  </a:schemeClr>
                </a:solidFill>
                <a:latin typeface="Syne"/>
              </a:rPr>
              <a:t>  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inefficient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Syne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Bug fixing becomes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slow and inaccurate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Syn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921828" y="879203"/>
            <a:ext cx="3871984" cy="830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unnel Display"/>
              </a:rPr>
              <a:t>Purpose and Functionality</a:t>
            </a:r>
            <a:endParaRPr lang="en-US" sz="24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048280" y="1710200"/>
            <a:ext cx="3619080" cy="25011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b="0" u="none" strike="noStrike" dirty="0" err="1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BugBox</a:t>
            </a:r>
            <a:r>
              <a:rPr lang="en-US" sz="13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 records all user interactions and system logs during bug occurrences in real time. </a:t>
            </a: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3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Sy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This detailed capture allows developers to analyze the exact sequence leading to an issue, eliminating common reproduction challenges. The tool supports seamless bug tracking from report to resolution</a:t>
            </a:r>
            <a:endParaRPr lang="en-US" sz="13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pic>
        <p:nvPicPr>
          <p:cNvPr id="90" name="image69aa52a3afc16" descr="image69aa52a3afc1b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520" y="1006568"/>
            <a:ext cx="7717320" cy="68004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</a:schemeClr>
                </a:solidFill>
                <a:latin typeface="Syne"/>
              </a:rPr>
              <a:t>System Architecture</a:t>
            </a:r>
            <a:endParaRPr lang="en-US" dirty="0">
              <a:solidFill>
                <a:schemeClr val="tx1">
                  <a:lumMod val="50000"/>
                </a:schemeClr>
              </a:solidFill>
              <a:latin typeface="Syne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/>
          </p:nvPr>
        </p:nvSpPr>
        <p:spPr bwMode="auto">
          <a:xfrm>
            <a:off x="2130357" y="2192071"/>
            <a:ext cx="73829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Frontend: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React.js,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Backend: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Node.js, Express.js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Database: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 API Communication: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Syne"/>
              </a:rPr>
              <a:t> REST APIs</a:t>
            </a:r>
          </a:p>
        </p:txBody>
      </p:sp>
    </p:spTree>
    <p:extLst>
      <p:ext uri="{BB962C8B-B14F-4D97-AF65-F5344CB8AC3E}">
        <p14:creationId xmlns:p14="http://schemas.microsoft.com/office/powerpoint/2010/main" val="343552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unnel Display"/>
              </a:rPr>
              <a:t>Target Users</a:t>
            </a:r>
            <a:endParaRPr lang="en-US" sz="30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048280" y="1254868"/>
            <a:ext cx="3619080" cy="34121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BugBox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 is designed for software developers, QA engineers, and product managers who require precise bug reproduction for effective troubleshooting</a:t>
            </a:r>
            <a:r>
              <a:rPr lang="en-US" sz="12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.</a:t>
            </a:r>
          </a:p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 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It particularly benefits teams working in agile environments where quick bug resolution is critical. </a:t>
            </a:r>
            <a:endParaRPr lang="en-US" sz="12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Syne"/>
            </a:endParaRPr>
          </a:p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The 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tool also supports support personnel by providing clear, actionable data about reported issues to enhance communication and resolution efficiency.</a:t>
            </a:r>
            <a:endParaRPr lang="en-US" sz="12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pic>
        <p:nvPicPr>
          <p:cNvPr id="97" name="image69aa52a3c0530" descr="image69aa52a3c053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unnel Display"/>
              </a:rPr>
              <a:t>Integration with Development Workflows</a:t>
            </a:r>
            <a:endParaRPr lang="en-US" sz="30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BugBox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 integrates smoothly with existing development tools such as issue trackers and CI/CD pipelines. </a:t>
            </a:r>
            <a:endParaRPr lang="en-US" sz="1200" b="0" u="none" strike="noStrike" dirty="0" smtClean="0">
              <a:solidFill>
                <a:schemeClr val="tx1">
                  <a:lumMod val="50000"/>
                </a:schemeClr>
              </a:solidFill>
              <a:effectLst/>
              <a:uFillTx/>
              <a:latin typeface="Syne"/>
            </a:endParaRPr>
          </a:p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smtClean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Its 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</a:rPr>
              <a:t>compatibility with popular platforms ensures adoption without disrupting current processes. This integration streamlines bug tracking and resolution, reducing manual overhead and speeding up release cycles through better collaboration and visibility.</a:t>
            </a:r>
            <a:endParaRPr lang="en-US" sz="12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pic>
        <p:nvPicPr>
          <p:cNvPr id="103" name="image69aa52a3de840" descr="image69aa52a3de84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7714800" cy="6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unnel Display"/>
                <a:ea typeface="Funnel Display"/>
              </a:rPr>
              <a:t>Conclusions</a:t>
            </a:r>
            <a:endParaRPr lang="fr-FR" sz="30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714240" y="1457280"/>
            <a:ext cx="3981240" cy="24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BugBox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 significantly enhances the bug reproduction process by providing </a:t>
            </a:r>
            <a:r>
              <a:rPr lang="en-US" sz="120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real-time, detailed logging 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of user actions and system data. Its seamless integration and precise capture capabilities improve debugging efficiency, reduce resolution time, and contribute to better software quality. Adopting </a:t>
            </a:r>
            <a:r>
              <a:rPr lang="en-US" sz="1200" b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BugBox</a:t>
            </a:r>
            <a:r>
              <a:rPr lang="en-US" sz="1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Syne"/>
                <a:ea typeface="Syne"/>
              </a:rPr>
              <a:t> supports teams in delivering reliable products faster and with confidence.</a:t>
            </a:r>
            <a:endParaRPr lang="en-US" sz="12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pic>
        <p:nvPicPr>
          <p:cNvPr id="110" name="Google Shape;253;p34"/>
          <p:cNvPicPr/>
          <p:nvPr/>
        </p:nvPicPr>
        <p:blipFill>
          <a:blip r:embed="rId2"/>
          <a:srcRect l="2997" t="35822" b="2431"/>
          <a:stretch/>
        </p:blipFill>
        <p:spPr>
          <a:xfrm>
            <a:off x="4766553" y="0"/>
            <a:ext cx="4377087" cy="5142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57640" y="2153459"/>
            <a:ext cx="3371400" cy="7694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800" b="0" u="none" strike="noStrike" dirty="0" smtClean="0">
                <a:solidFill>
                  <a:schemeClr val="lt1"/>
                </a:solidFill>
                <a:effectLst/>
                <a:uFillTx/>
                <a:latin typeface="Funnel Display"/>
                <a:ea typeface="Funnel Display"/>
              </a:rPr>
              <a:t>Thank  You!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5057640" y="3337216"/>
            <a:ext cx="3371400" cy="4308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14" name="Google Shape;394;p41"/>
          <p:cNvPicPr/>
          <p:nvPr/>
        </p:nvPicPr>
        <p:blipFill>
          <a:blip r:embed="rId2"/>
          <a:srcRect t="12322" b="30123"/>
          <a:stretch/>
        </p:blipFill>
        <p:spPr>
          <a:xfrm>
            <a:off x="0" y="0"/>
            <a:ext cx="4824919" cy="5143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395;p41"/>
          <p:cNvSpPr/>
          <p:nvPr/>
        </p:nvSpPr>
        <p:spPr>
          <a:xfrm>
            <a:off x="4724280" y="85680"/>
            <a:ext cx="421920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-1423440" rIns="870823080" bIns="-142344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Name </a:t>
            </a:r>
            <a:r>
              <a:rPr lang="en" sz="1200" b="0" u="none" strike="noStrike" dirty="0" smtClean="0">
                <a:solidFill>
                  <a:schemeClr val="lt1"/>
                </a:solidFill>
                <a:effectLst/>
                <a:uFillTx/>
                <a:latin typeface="Arial"/>
              </a:rPr>
              <a:t>of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16" name="Google Shape;396;p41"/>
          <p:cNvCxnSpPr/>
          <p:nvPr/>
        </p:nvCxnSpPr>
        <p:spPr>
          <a:xfrm>
            <a:off x="5165640" y="2107440"/>
            <a:ext cx="81648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22" name="Google Shape;402;p41"/>
          <p:cNvSpPr/>
          <p:nvPr/>
        </p:nvSpPr>
        <p:spPr>
          <a:xfrm>
            <a:off x="4029120" y="4552920"/>
            <a:ext cx="39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5120" rIns="870823080" bIns="1951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ategic Business Management by Slidesgo">
  <a:themeElements>
    <a:clrScheme name="Simple Light">
      <a:dk1>
        <a:srgbClr val="1D3675"/>
      </a:dk1>
      <a:lt1>
        <a:srgbClr val="FFFFFF"/>
      </a:lt1>
      <a:dk2>
        <a:srgbClr val="F07621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367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359</Words>
  <Application>Microsoft Office PowerPoint</Application>
  <PresentationFormat>On-screen Show (16:9)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Funnel Display</vt:lpstr>
      <vt:lpstr>OpenSymbol</vt:lpstr>
      <vt:lpstr>Symbol</vt:lpstr>
      <vt:lpstr>Syne</vt:lpstr>
      <vt:lpstr>Wingdings</vt:lpstr>
      <vt:lpstr>Strategic Business Management by Slidesgo</vt:lpstr>
      <vt:lpstr>Slidesgo Final Pages</vt:lpstr>
      <vt:lpstr>BugBox Tool</vt:lpstr>
      <vt:lpstr>Introduction</vt:lpstr>
      <vt:lpstr>Problem Statement</vt:lpstr>
      <vt:lpstr>PowerPoint Presentation</vt:lpstr>
      <vt:lpstr>System Architecture</vt:lpstr>
      <vt:lpstr>PowerPoint Presentation</vt:lpstr>
      <vt:lpstr>PowerPoint Presentation</vt:lpstr>
      <vt:lpstr>Conclusions</vt:lpstr>
      <vt:lpstr>Thank 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BugBox Tool</dc:title>
  <dc:creator>Poovarasu</dc:creator>
  <cp:lastModifiedBy>Poovarasu</cp:lastModifiedBy>
  <cp:revision>11</cp:revision>
  <dcterms:modified xsi:type="dcterms:W3CDTF">2026-03-06T10:21:23Z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2026-03-06T04:05:46Z</dcterms:created>
  <dc:creator>Unknown Creator</dc:creator>
  <dc:description/>
  <dc:language>en-US</dc:language>
  <cp:lastModifiedBy>Unknown Creator</cp:lastModifiedBy>
  <dcterms:modified xsi:type="dcterms:W3CDTF">2026-03-06T04:05:46Z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